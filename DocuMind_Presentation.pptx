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4F46E5"/>
                </a:solidFill>
              </a:defRPr>
            </a:pPr>
            <a:r>
              <a:t>DocuMind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AI-Powered Document Intelligence Platform using RAG Architecture</a:t>
            </a:r>
          </a:p>
          <a:p/>
          <a:p>
            <a:r>
              <a:t>Nilofar Sayyad (MCA II)</a:t>
            </a:r>
          </a:p>
          <a:p>
            <a:r>
              <a:t>Pirens IBMA, Loni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The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000"/>
            </a:pPr>
            <a:r>
              <a:t>Information Overload</a:t>
            </a:r>
          </a:p>
          <a:p>
            <a:pPr lvl="1">
              <a:defRPr sz="1600"/>
            </a:pPr>
            <a:r>
              <a:t>Managing thousands of documents manually is impossible and prone to error.</a:t>
            </a:r>
          </a:p>
          <a:p>
            <a:pPr>
              <a:defRPr b="1" sz="2000"/>
            </a:pPr>
            <a:r>
              <a:t>Slow Retrieval</a:t>
            </a:r>
          </a:p>
          <a:p>
            <a:pPr lvl="1">
              <a:defRPr sz="1600"/>
            </a:pPr>
            <a:r>
              <a:t>Finding specific information in deeply nested PDFs takes hours of manual searching.</a:t>
            </a:r>
          </a:p>
          <a:p>
            <a:pPr>
              <a:defRPr b="1" sz="2000"/>
            </a:pPr>
            <a:r>
              <a:t>Context Blindness</a:t>
            </a:r>
          </a:p>
          <a:p>
            <a:pPr lvl="1">
              <a:defRPr sz="1600"/>
            </a:pPr>
            <a:r>
              <a:t>Traditional search fails to understand the actual meaning and context of queries.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The Solution: DocuMind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1800"/>
            </a:pPr>
            <a:r>
              <a:t>Leveraging Retrieval-Augmented Generation (RAG) to bridge the gap between static documents and AI.</a:t>
            </a:r>
          </a:p>
          <a:p>
            <a:pPr>
              <a:defRPr b="1" sz="2000"/>
            </a:pPr>
            <a:r>
              <a:t>Step 1: Ingestion</a:t>
            </a:r>
          </a:p>
          <a:p>
            <a:pPr lvl="1">
              <a:defRPr sz="1600"/>
            </a:pPr>
            <a:r>
              <a:t>Smart processing of PDFs and text files.</a:t>
            </a:r>
          </a:p>
          <a:p>
            <a:pPr>
              <a:defRPr b="1" sz="2000"/>
            </a:pPr>
            <a:r>
              <a:t>Step 2: Vectorization</a:t>
            </a:r>
          </a:p>
          <a:p>
            <a:pPr lvl="1">
              <a:defRPr sz="1600"/>
            </a:pPr>
            <a:r>
              <a:t>Encoding content into mathematical representations.</a:t>
            </a:r>
          </a:p>
          <a:p>
            <a:pPr>
              <a:defRPr b="1" sz="2000"/>
            </a:pPr>
            <a:r>
              <a:t>Step 3: Retrieval</a:t>
            </a:r>
          </a:p>
          <a:p>
            <a:pPr lvl="1">
              <a:defRPr sz="1600"/>
            </a:pPr>
            <a:r>
              <a:t>Context-aware search using pgvector.</a:t>
            </a:r>
          </a:p>
          <a:p>
            <a:pPr>
              <a:defRPr b="1" sz="2000"/>
            </a:pPr>
            <a:r>
              <a:t>Step 4: Generation</a:t>
            </a:r>
          </a:p>
          <a:p>
            <a:pPr lvl="1">
              <a:defRPr sz="1600"/>
            </a:pPr>
            <a:r>
              <a:t>Ultra-fast response generation via Groq Llama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RAG 101: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000"/>
            </a:pPr>
            <a:r>
              <a:t>1. Chunks</a:t>
            </a:r>
          </a:p>
          <a:p>
            <a:pPr lvl="1">
              <a:defRPr sz="1600"/>
            </a:pPr>
            <a:r>
              <a:t>Breaking long documents into small, manageable pieces for the AI.</a:t>
            </a:r>
          </a:p>
          <a:p>
            <a:pPr>
              <a:defRPr b="1" sz="2000"/>
            </a:pPr>
            <a:r>
              <a:t>2. Embeddings</a:t>
            </a:r>
          </a:p>
          <a:p>
            <a:pPr lvl="1">
              <a:defRPr sz="1600"/>
            </a:pPr>
            <a:r>
              <a:t>Converting text into numerical vectors that represent concepts and meaning.</a:t>
            </a:r>
          </a:p>
          <a:p>
            <a:pPr>
              <a:defRPr b="1" sz="2000"/>
            </a:pPr>
            <a:r>
              <a:t>3. Retrieval</a:t>
            </a:r>
          </a:p>
          <a:p>
            <a:pPr lvl="1">
              <a:defRPr sz="1600"/>
            </a:pPr>
            <a:r>
              <a:t>Finding the exact chunks needed to answer a specific query.</a:t>
            </a:r>
          </a:p>
          <a:p>
            <a:pPr>
              <a:defRPr b="1" sz="2000"/>
            </a:pPr>
            <a:r>
              <a:t>4. Augmentation</a:t>
            </a:r>
          </a:p>
          <a:p>
            <a:pPr lvl="1">
              <a:defRPr sz="1600"/>
            </a:pPr>
            <a:r>
              <a:t>Giving the AI factual 'Notes' so it doesn't have to hallucinate.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Project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000"/>
            </a:pPr>
            <a:r>
              <a:t>Target Audience</a:t>
            </a:r>
          </a:p>
          <a:p>
            <a:pPr lvl="1">
              <a:defRPr sz="1600"/>
            </a:pPr>
            <a:r>
              <a:t>Researchers, Academics, Legal Compliance Teams, and Corporate Knowledge Labs.</a:t>
            </a:r>
          </a:p>
          <a:p>
            <a:pPr>
              <a:defRPr b="1" sz="2000"/>
            </a:pPr>
            <a:r>
              <a:t>Semantic Intelligence</a:t>
            </a:r>
          </a:p>
          <a:p>
            <a:pPr lvl="1">
              <a:defRPr sz="1600"/>
            </a:pPr>
            <a:r>
              <a:t>Moving beyond keyword search to deep conceptual understanding of documents.</a:t>
            </a:r>
          </a:p>
          <a:p>
            <a:pPr>
              <a:defRPr b="1" sz="2000"/>
            </a:pPr>
            <a:r>
              <a:t>Scalability</a:t>
            </a:r>
          </a:p>
          <a:p>
            <a:pPr lvl="1">
              <a:defRPr sz="1600"/>
            </a:pPr>
            <a:r>
              <a:t>Architected to handle massive PDF libraries with near-instant retrieval speed.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Real-World Industry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000"/>
            </a:pPr>
            <a:r>
              <a:t>Legal Tech</a:t>
            </a:r>
          </a:p>
          <a:p>
            <a:pPr lvl="1">
              <a:defRPr sz="1600"/>
            </a:pPr>
            <a:r>
              <a:t>Automated contract auditing and fast retrieval of legal precedents.</a:t>
            </a:r>
          </a:p>
          <a:p>
            <a:pPr>
              <a:defRPr b="1" sz="2000"/>
            </a:pPr>
            <a:r>
              <a:t>Healthcare</a:t>
            </a:r>
          </a:p>
          <a:p>
            <a:pPr lvl="1">
              <a:defRPr sz="1600"/>
            </a:pPr>
            <a:r>
              <a:t>Scanning medical journals and patient records for fast diagnosis assistance.</a:t>
            </a:r>
          </a:p>
          <a:p>
            <a:pPr>
              <a:defRPr b="1" sz="2000"/>
            </a:pPr>
            <a:r>
              <a:t>Corporate HR</a:t>
            </a:r>
          </a:p>
          <a:p>
            <a:pPr lvl="1">
              <a:defRPr sz="1600"/>
            </a:pPr>
            <a:r>
              <a:t>Answering employee policy questions based on company handbooks.</a:t>
            </a:r>
          </a:p>
          <a:p>
            <a:pPr>
              <a:defRPr b="1" sz="2000"/>
            </a:pPr>
            <a:r>
              <a:t>Academic Research</a:t>
            </a:r>
          </a:p>
          <a:p>
            <a:pPr lvl="1">
              <a:defRPr sz="1600"/>
            </a:pPr>
            <a:r>
              <a:t>Analyzing thousands of research papers for literature reviews.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000"/>
            </a:pPr>
            <a:r>
              <a:t>Frontend Layer</a:t>
            </a:r>
          </a:p>
          <a:p>
            <a:pPr lvl="1">
              <a:defRPr sz="1600"/>
            </a:pPr>
            <a:r>
              <a:t>React Client (Vite + Tailwind) for a responsive UI.</a:t>
            </a:r>
          </a:p>
          <a:p>
            <a:pPr>
              <a:defRPr b="1" sz="2000"/>
            </a:pPr>
            <a:r>
              <a:t>API Layer</a:t>
            </a:r>
          </a:p>
          <a:p>
            <a:pPr lvl="1">
              <a:defRPr sz="1600"/>
            </a:pPr>
            <a:r>
              <a:t>FastAPI Asynchronous Gateway for high-concurrency routing.</a:t>
            </a:r>
          </a:p>
          <a:p>
            <a:pPr>
              <a:defRPr b="1" sz="2000"/>
            </a:pPr>
            <a:r>
              <a:t>Logic Layer</a:t>
            </a:r>
          </a:p>
          <a:p>
            <a:pPr lvl="1">
              <a:defRPr sz="1600"/>
            </a:pPr>
            <a:r>
              <a:t>Celery &amp; Redis for reliable background task processing.</a:t>
            </a:r>
          </a:p>
          <a:p>
            <a:pPr>
              <a:defRPr b="1" sz="2000"/>
            </a:pPr>
            <a:r>
              <a:t>Storage Layer</a:t>
            </a:r>
          </a:p>
          <a:p>
            <a:pPr lvl="1">
              <a:defRPr sz="1600"/>
            </a:pPr>
            <a:r>
              <a:t>PostgreSQL 16 + pgvector for high-speed similarity search.</a:t>
            </a:r>
          </a:p>
          <a:p>
            <a:pPr>
              <a:defRPr b="1" sz="2000"/>
            </a:pPr>
            <a:r>
              <a:t>AI Layer</a:t>
            </a:r>
          </a:p>
          <a:p>
            <a:pPr lvl="1">
              <a:defRPr sz="1600"/>
            </a:pPr>
            <a:r>
              <a:t>Groq LPU hardware for real-time Llama 3 inference.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Technical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1800"/>
            </a:pPr>
            <a:r>
              <a:t>• Python 3.12: Core Backend Engine</a:t>
            </a:r>
          </a:p>
          <a:p>
            <a:pPr>
              <a:defRPr sz="1800"/>
            </a:pPr>
            <a:r>
              <a:t>• PostgreSQL 16: Robust Database with pgvector extension</a:t>
            </a:r>
          </a:p>
          <a:p>
            <a:pPr>
              <a:defRPr sz="1800"/>
            </a:pPr>
            <a:r>
              <a:t>• Docker: Containerized Service Orchestration</a:t>
            </a:r>
          </a:p>
          <a:p>
            <a:pPr>
              <a:defRPr sz="1800"/>
            </a:pPr>
            <a:r>
              <a:t>• React.js: Premium Interactive Frontend</a:t>
            </a:r>
          </a:p>
          <a:p>
            <a:pPr>
              <a:defRPr sz="1800"/>
            </a:pPr>
            <a:r>
              <a:t>• Groq API: Ultra-fast AI inference engine for source code analysis</a:t>
            </a:r>
          </a:p>
          <a:p>
            <a:pPr>
              <a:defRPr sz="1800"/>
            </a:pPr>
            <a:r>
              <a:t>• HuggingFace: MiniLM-L6 embeddings</a:t>
            </a:r>
          </a:p>
          <a:p>
            <a:pPr>
              <a:defRPr sz="1800"/>
            </a:pPr>
            <a:r>
              <a:t>• Redis: High-speed Message Broker</a:t>
            </a:r>
          </a:p>
          <a:p>
            <a:pPr>
              <a:defRPr sz="1800"/>
            </a:pPr>
            <a:r>
              <a:t>• Prometheus: Real-time System Monitoring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Platform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000"/>
            </a:pPr>
            <a:r>
              <a:t>Universal Code Intelligence</a:t>
            </a:r>
          </a:p>
          <a:p>
            <a:pPr lvl="1">
              <a:defRPr sz="1600"/>
            </a:pPr>
            <a:r>
              <a:t>Native support for C, C++, Java, Python, JS, &amp; more.</a:t>
            </a:r>
          </a:p>
          <a:p>
            <a:pPr>
              <a:defRPr b="1" sz="2000"/>
            </a:pPr>
            <a:r>
              <a:t>Unified Viewer</a:t>
            </a:r>
          </a:p>
          <a:p>
            <a:pPr lvl="1">
              <a:defRPr sz="1600"/>
            </a:pPr>
            <a:r>
              <a:t>Preview PDFs, text, and code with live syntax highlighting.</a:t>
            </a:r>
          </a:p>
          <a:p>
            <a:pPr>
              <a:defRPr b="1" sz="2000"/>
            </a:pPr>
            <a:r>
              <a:t>Semantic Citations</a:t>
            </a:r>
          </a:p>
          <a:p>
            <a:pPr lvl="1">
              <a:defRPr sz="1600"/>
            </a:pPr>
            <a:r>
              <a:t>Every answer is backed by direct quotes and page references.</a:t>
            </a:r>
          </a:p>
          <a:p>
            <a:pPr>
              <a:defRPr b="1" sz="2000"/>
            </a:pPr>
            <a:r>
              <a:t>Vectorized Search</a:t>
            </a:r>
          </a:p>
          <a:p>
            <a:pPr lvl="1">
              <a:defRPr sz="1600"/>
            </a:pPr>
            <a:r>
              <a:t>Meaning-based retrieval beyond simple keywords.</a:t>
            </a:r>
          </a:p>
          <a:p>
            <a:pPr>
              <a:defRPr b="1" sz="2000"/>
            </a:pPr>
            <a:r>
              <a:t>Async OCR</a:t>
            </a:r>
          </a:p>
          <a:p>
            <a:pPr lvl="1">
              <a:defRPr sz="1600"/>
            </a:pPr>
            <a:r>
              <a:t>Handles batches of complex documents in the background.</a:t>
            </a:r>
          </a:p>
          <a:p>
            <a:pPr>
              <a:defRPr b="1" sz="2000"/>
            </a:pPr>
            <a:r>
              <a:t>Modern Security</a:t>
            </a:r>
          </a:p>
          <a:p>
            <a:pPr lvl="1">
              <a:defRPr sz="1600"/>
            </a:pPr>
            <a:r>
              <a:t>Built-in rate limiting and protected API endpoints.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User Management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000"/>
            </a:pPr>
            <a:r>
              <a:t>Secure Authentication</a:t>
            </a:r>
          </a:p>
          <a:p>
            <a:pPr lvl="1">
              <a:defRPr sz="1600"/>
            </a:pPr>
            <a:r>
              <a:t>JWT-based sessions with password hashing (BCrypt).</a:t>
            </a:r>
          </a:p>
          <a:p>
            <a:pPr>
              <a:defRPr b="1" sz="2000"/>
            </a:pPr>
            <a:r>
              <a:t>Ownership Isolation</a:t>
            </a:r>
          </a:p>
          <a:p>
            <a:pPr lvl="1">
              <a:defRPr sz="1600"/>
            </a:pPr>
            <a:r>
              <a:t>Secure multi-tenancy where users only access their own data.</a:t>
            </a:r>
          </a:p>
          <a:p>
            <a:pPr>
              <a:defRPr b="1" sz="2000"/>
            </a:pPr>
            <a:r>
              <a:t>Member Profiles</a:t>
            </a:r>
          </a:p>
          <a:p>
            <a:pPr lvl="1">
              <a:defRPr sz="1600"/>
            </a:pPr>
            <a:r>
              <a:t>Personalized settings, theme management, and account dashboard.</a:t>
            </a:r>
          </a:p>
          <a:p>
            <a:pPr>
              <a:defRPr b="1" sz="2000"/>
            </a:pPr>
            <a:r>
              <a:t>Role-Based Flow</a:t>
            </a:r>
          </a:p>
          <a:p>
            <a:pPr lvl="1">
              <a:defRPr sz="1600"/>
            </a:pPr>
            <a:r>
              <a:t>Structured interactions for different user tiers (Member/Admin).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Project Walkthrough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840480" cy="2403814"/>
          </a:xfrm>
          <a:prstGeom prst="rect">
            <a:avLst/>
          </a:prstGeom>
        </p:spPr>
      </p:pic>
      <p:pic>
        <p:nvPicPr>
          <p:cNvPr id="5" name="Picture 4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828800"/>
            <a:ext cx="3840480" cy="17065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Future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000"/>
            </a:pPr>
            <a:r>
              <a:t>Phase 1: Core RAG</a:t>
            </a:r>
          </a:p>
          <a:p>
            <a:pPr lvl="1">
              <a:defRPr sz="1600"/>
            </a:pPr>
            <a:r>
              <a:t>Database integration and async pipeline (Completed).</a:t>
            </a:r>
          </a:p>
          <a:p>
            <a:pPr>
              <a:defRPr b="1" sz="2000"/>
            </a:pPr>
            <a:r>
              <a:t>Phase 2: Advanced Intelligence</a:t>
            </a:r>
          </a:p>
          <a:p>
            <a:pPr lvl="1">
              <a:defRPr sz="1600"/>
            </a:pPr>
            <a:r>
              <a:t>Multi-modal OCR support and vision-based interpretation.</a:t>
            </a:r>
          </a:p>
          <a:p>
            <a:pPr>
              <a:defRPr b="1" sz="2000"/>
            </a:pPr>
            <a:r>
              <a:t>Phase 3: Enterprise Auth</a:t>
            </a:r>
          </a:p>
          <a:p>
            <a:pPr lvl="1">
              <a:defRPr sz="1600"/>
            </a:pPr>
            <a:r>
              <a:t>Fine-grained ACL and role-based access control.</a:t>
            </a:r>
          </a:p>
          <a:p>
            <a:pPr>
              <a:defRPr b="1" sz="2000"/>
            </a:pPr>
            <a:r>
              <a:t>Phase 4: Collaboration</a:t>
            </a:r>
          </a:p>
          <a:p>
            <a:pPr lvl="1">
              <a:defRPr sz="1600"/>
            </a:pPr>
            <a:r>
              <a:t>Shared vector spaces and organization-level document pools.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Roadmap: Technical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000"/>
            </a:pPr>
            <a:r>
              <a:t>🖼️ Multi-modal OCR</a:t>
            </a:r>
          </a:p>
          <a:p>
            <a:pPr lvl="1">
              <a:defRPr sz="1600"/>
            </a:pPr>
            <a:r>
              <a:t>Using Tesseract/EasyOCR for scanning and Llama 3.2 Vision for diagrams.</a:t>
            </a:r>
          </a:p>
          <a:p>
            <a:pPr>
              <a:defRPr b="1" sz="2000"/>
            </a:pPr>
            <a:r>
              <a:t>🔐 Advanced Auth</a:t>
            </a:r>
          </a:p>
          <a:p>
            <a:pPr lvl="1">
              <a:defRPr sz="1600"/>
            </a:pPr>
            <a:r>
              <a:t>Expanding our JWT foundation to include OAuth2 and Multi-Factor Auth (MFA).</a:t>
            </a:r>
          </a:p>
          <a:p>
            <a:pPr>
              <a:defRPr b="1" sz="2000"/>
            </a:pPr>
            <a:r>
              <a:t>👥 Team Collaboration</a:t>
            </a:r>
          </a:p>
          <a:p>
            <a:pPr lvl="1">
              <a:defRPr sz="1600"/>
            </a:pPr>
            <a:r>
              <a:t>Implementing Organisation-level Document Pools and Shared Vector Indexes.</a:t>
            </a:r>
          </a:p>
          <a:p>
            <a:pPr>
              <a:defRPr b="1" sz="2000"/>
            </a:pPr>
            <a:r>
              <a:t>🚀 Scalability</a:t>
            </a:r>
          </a:p>
          <a:p>
            <a:pPr lvl="1">
              <a:defRPr sz="1600"/>
            </a:pPr>
            <a:r>
              <a:t>Shifting to dedicated vector engines like Pinecone for billion-scale document handling.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4F46E5"/>
                </a:solidFill>
              </a:defRPr>
            </a:pPr>
            <a:r>
              <a:t>Conclusion &amp;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2000"/>
            </a:pPr>
            <a:r>
              <a:t>Technical Achievement</a:t>
            </a:r>
          </a:p>
          <a:p>
            <a:pPr lvl="1">
              <a:defRPr sz="1600"/>
            </a:pPr>
            <a:r>
              <a:t>Distributed RAG pipeline with sub-second retrieval and generation.</a:t>
            </a:r>
          </a:p>
          <a:p>
            <a:pPr>
              <a:defRPr b="1" sz="2000"/>
            </a:pPr>
            <a:r>
              <a:t>Practical Utility</a:t>
            </a:r>
          </a:p>
          <a:p>
            <a:pPr lvl="1">
              <a:defRPr sz="1600"/>
            </a:pPr>
            <a:r>
              <a:t>Reduces document research time by up to 90%.</a:t>
            </a:r>
          </a:p>
          <a:p>
            <a:pPr>
              <a:defRPr b="1" sz="2000"/>
            </a:pPr>
            <a:r>
              <a:t>Platform Stability</a:t>
            </a:r>
          </a:p>
          <a:p>
            <a:pPr lvl="1">
              <a:defRPr sz="1600"/>
            </a:pPr>
            <a:r>
              <a:t>Scalable containerized architecture ready for production.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4F46E5"/>
                </a:solidFill>
              </a:defRPr>
            </a:pPr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1E293B"/>
                </a:solidFill>
              </a:defRPr>
            </a:pPr>
            <a:r>
              <a:t>Any Questions?</a:t>
            </a:r>
          </a:p>
          <a:p/>
          <a:p>
            <a:r>
              <a:t>DocuMind Project 2026</a:t>
            </a:r>
          </a:p>
          <a:p>
            <a:r>
              <a:t>Presented to Science &amp; Tech Seminar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